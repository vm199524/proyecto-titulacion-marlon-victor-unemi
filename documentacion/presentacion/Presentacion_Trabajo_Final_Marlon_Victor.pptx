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9" r:id="rId2"/>
  </p:sldMasterIdLst>
  <p:notesMasterIdLst>
    <p:notesMasterId r:id="rId7"/>
  </p:notesMasterIdLst>
  <p:sldIdLst>
    <p:sldId id="259" r:id="rId9"/>
    <p:sldId id="260" r:id="rId8"/>
    <p:sldId id="261" r:id="rId5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jW0qHVpuPwP8B1KuPoNRHqIspG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2118" y="8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customschemas.google.com/relationships/presentationmetadata" Target="meta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[Víctor] Buenos días. Somos Víctor Manuel Lluilema Pisco y Marlon David Pérez Almachi, de la carrera de Tecnologías de la Información, y presentamos nuestro trabajo de titulación: «Prototipo de un sistema web para predecir el abandono en estudiantes universitarios mediante aprendizaje automático y consulta conversacional». Al sistema lo llamamos VicMar.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[Víctor] La presentación sigue el orden del trabajo final. Primero, el problema y lo que nos propusimos; después, la base teórica y la metodología. Luego mostraremos cómo está construido el sistema, qué resultados obtuvo, cómo protege los datos y, al final, el sistema funcionando y las conclusiones.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[Víctor] Empecemos por el problema. El abandono universitario no es hipotético en el Ecuador: en un estudio con cinco cohortes de una universidad del país, 484 de 1.078 admitidos dejaron la carrera, y la probabilidad de abandono llegó a 44,90 %. Las señales que lo anticipan, como las notas, la asistencia, la actividad en el aula virtual o la deuda, ya están registradas, pero en sistemas separados y se consultan para saber el estado actual del estudiante, no para anticipar su retiro. Además, la literatura muestra que, cuando un modelo se prueba con cohortes futuras, su desempeño ronda 0,70; por eso fijamos un criterio realista de 0,75.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[Víctor] Nuestro objetivo general responde a tres preguntas. Qué: un prototipo web de alerta temprana. Cómo: con la metodología CRISP-DM, un almacén dimensional, un modelo LightGBM calibrado y una consulta en lenguaje natural. Para qué: para que la autoridad y bienestar estudiantil lleguen antes de que el estudiante abandone.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[Víctor] Para cumplirlo planteamos cuatro objetivos específicos, cada uno con un entregable verificable: el análisis que dio origen a los requerimientos, el modelo validado, el sistema implementado y la evaluación contra criterios fijados antes de ver los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[Víctor] En la base conceptual partimos de Tinto, que explica el abandono como falta de integración académica y social, y de Bean y Metzner, que muestran el peso de los factores externos. Luego comparamos catorce estudios; aquí vemos siete. Los modelos predictivos informan desde 76 % hasta casi 100 %, pero los valores más altos suelen salir de particiones aleatorias que mezclan periodos. La última columna es la clave: ninguno entrega la predicción dentro de un sistema con roles, consulta en lenguaje natural y aislamiento de datos a la vez. Ese es el vacío que cubre VicMar.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[Víctor] Para desarrollarlo aplicamos CRISP-DM, con un entregable verificable por fase. En comprensión del negocio fijamos los criterios de éxito y las historias de usuario. En comprensión y preparación de los datos construimos el ETL, el esquema estrella y el panel estudiante-periodo sin fuga de información futura. En modelado comparamos cuatro algoritmos. En evaluación validamos en el tiempo, por periodo, por carrera y de forma prospectiva. Y en despliegue el modelo quedó dentro del sistema, con calificación por lotes y monitoreo de la calidad y la deriva de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[Víctor] De ese análisis salieron 23 requerimientos funcionales, 11 no funcionales y diez historias de usuario escritas para una autoridad que no sabe SQL. Lo importante es que los criterios de aceptación se fijaron antes de entrenar, para no acomodarlos al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[Víctor] La arquitectura es cliente-servidor en capas. Abajo, las fuentes académicas pasan por el ETL al almacén ALMACEN_ACADEMICO en SQL Server. El pipeline entrena el modelo, califica a los estudiantes activos, segmenta las carreras y, al final, valida la calidad y la deriva. En el medio, la API FastAPI expone 27 servicios protegidos por rol. Arriba, la interfaz React. Lo importante es que el panel, la ficha y la consulta leen las mismas vistas gobernadas, por eso las cifras coinciden en todo el sistema. Ahora Marlon explica cómo está construido por dentro.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[Marlon] Gracias, Víctor. En el frontend usamos React 18 con TypeScript, Vite y Tailwind; cada rol ve solo su menú, hay tema claro y oscuro y funciona en el celular. TanStack Query maneja la caché de las consultas. El backend es FastAPI en Python, el mismo lenguaje del modelo: autentica con JWT, verifica el rol en cada uno de los 27 servicios y registra la auditoría. El modelo usa LightGBM, Platt y SHAP; la consulta usa un enrutador TF-IDF, modelos de lenguaje en cascada y el validador sqlglot. Y la operación del modelo se apoya en MLflow, Great Expectations y Evidently.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[Marlon] El almacén sigue el modelo dimensional de Kimball. Las tablas de hechos guardan las matrículas por periodo, las predicciones, los segmentos de carrera y las intervenciones de bienestar; las dimensiones describen al estudiante, la carrera, el periodo y la institución. Un detalle de diseño importante: las aplicaciones nunca leen las tablas directamente, sino vistas VIS que se filtran solas por la institución fijada en la sesión. El diccionario de datos completo está en el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[Marlon] Este diagrama de secuencia muestra cómo se responde una pregunta en español. Primero, los guardarraíles descartan pedidos peligrosos, como borrar o modificar datos. Luego el enrutador busca una de las 40 métricas certificadas; si la encuentra, responde en milisegundos. Si no, un modelo de lenguaje propone el SQL, el validador comprueba que sea solo una consulta de lectura sobre vistas permitidas y se ejecuta con la cuenta chat_reader, que únicamente ve los datos de su institución. Son tres barreras independientes.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[Marlon] Pasemos a los resultados. El ROC-AUC mide qué tan bien ordena el modelo: la probabilidad de que un estudiante que abandona quede por encima de uno que no; 0,5 es azar y 1 es perfecto. Comparamos cuatro algoritmos con validación cruzada agrupada por estudiante y LightGBM fue el mejor en las dos instituciones. Con periodos que el modelo nunca vio obtuvimos 0,829 en los datos de prueba de la UNEMI y 0,768 con los datos reales de OULAD, y con el umbral medio detecta cerca de 79 % de los abandonos.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[Marlon] En la tutoría se nos pidió validar con datos reales anonimizados y reportar el AUC y el recall por periodo. Lo hicimos con validación de origen móvil: cada periodo se predijo entrenando solo con los anteriores, como si el sistema se hubiera puesto en marcha en esa fecha. En OULAD el ROC-AUC se mantuvo entre 0,742 y 0,779, por encima del mínimo de 0,70 que fijamos para cada periodo. Por módulo, que en OULAD hace las veces de carrera, cinco de siete superan ese mínimo; los dos que no lo alcanzan tienen muy pocos abandonos, y eso nos dice que los umbrales deben revisarse por carrera. Para una carrera real de la UNEMI dejamos listo el procedimiento de anonimización.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[Marlon] La consulta conversacional se evaluó con un conjunto dorado: preguntas reales de una autoridad, con su resultado esperado. Acertó en todas por resultado de ejecución, contuvo las ocho preguntas maliciosas, como intentos de borrar tablas o de ver otra institución, y nunca leyó datos ajenos. La mayoría responde en milisegundos porque usa métricas certificadas; el modelo de lenguaje solo entra cuando la pregunta no tiene una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[Marlon] La seguridad no depende solo de la pantalla: está en la base de datos. Cada conexión fija su institución con SESSION_CONTEXT y las vistas filtran solo esa; SQL Server no deja cambiarla en la misma sesión. Las cuentas tienen el mínimo privilegio, hay tres roles y todo queda auditado. Para validar con una carrera real de la UNEMI dejamos el documento de gobierno de datos según la LOPDP y un script que reemplaza las cédulas por seudónimos y garantiza k-anonimato con k igual a cinco.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[Marlon] También incorporamos las herramientas sugeridas en la tutoría. Great Expectations valida los datos antes de entrenar y detiene el proceso si falla una regla crítica. Evidently compara a los estudiantes de hoy con los del entrenamiento para detectar la deriva, que es la señal para reentrenar. MLflow registra cada modelo con sus parámetros y métricas. Metabase queda como vía de consulta para analistas, sin datos personales. Y todo el sistema está cubierto por pruebas automatizadas del backend y de la interfaz.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 y Marlon] Ahora mostramos el sistema funcionando (unos cuatro minutos). Víctor ingresa como autoridad, recorre el panel y la lista priorizada y abre la ficha de un estudiante con sus tres razones. Marlon hace una pregunta en lenguaje natural y muestra la calidad del modelo por periodo. El código está en el repositorio de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[Marlon] La innovación no está en un algoritmo nuevo, sino en la integración: una predicción explicada en español, una consulta certificada y un aislamiento aplicado en el motor, pensados para una universidad ecuatoriana. También somos claros con las limitaciones: la UNEMI se evaluó con datos de prueba, falta la prueba con usuarios y el modelo prioriza, pero no reemplaza el criterio de bienestar. Ambas validaciones pendientes ya tienen su procedimiento.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[Víctor] Cerramos con una conclusión por objetivo. Las señales del abandono ya existen en los sistemas académicos y de ellas salieron los requerimientos. El modelo se sostuvo en periodos que no vio. El sistema funciona de punta a punta y su operación está automatizada. Y la evaluación cumple los criterios fijados al inicio. En síntesis, es viable que una universidad ecuatoriana pase de medir el abandono a anticiparlo con los datos que ya tiene. Gracias por su atención.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558eff909_2_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36558eff909_2_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g36558eff909_2_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6558eff909_2_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g36558eff909_2_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558eff909_2_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6558eff909_2_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g36558eff909_2_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36558eff909_2_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6558eff909_2_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558eff909_2_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36558eff909_2_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6558eff909_2_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g36558eff909_2_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6558eff909_2_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6558eff909_2_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558eff909_2_3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6558eff909_2_3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6" name="Google Shape;106;g36558eff909_2_3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g36558eff909_2_3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g36558eff909_2_3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g36558eff909_2_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6558eff909_2_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6558eff909_2_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558eff909_2_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6558eff909_2_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6558eff909_2_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36558eff909_2_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558eff909_2_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36558eff909_2_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0" name="Google Shape;120;g36558eff909_2_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1" name="Google Shape;121;g36558eff909_2_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36558eff909_2_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6558eff909_2_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558eff909_2_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6558eff909_2_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g36558eff909_2_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g36558eff909_2_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36558eff909_2_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36558eff909_2_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558eff909_2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6558eff909_2_6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g36558eff909_2_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6558eff909_2_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6558eff909_2_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558eff909_2_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6558eff909_2_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g36558eff909_2_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6558eff909_2_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6558eff909_2_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theme" Target="../theme/theme2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558eff909_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g36558eff909_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g36558eff909_2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g36558eff909_2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g36558eff909_2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48" name="Google Shape;148;p1"/>
          <p:cNvSpPr txBox="1"/>
          <p:nvPr/>
        </p:nvSpPr>
        <p:spPr>
          <a:xfrm>
            <a:off x="0" y="2385702"/>
            <a:ext cx="12192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145"/>
              </a:buClr>
              <a:buSzPts val="6200"/>
              <a:buFont typeface="Arial"/>
              <a:buNone/>
            </a:pPr>
            <a:r>
              <a:rPr lang="es-ES" sz="3000" b="1" i="0" u="none" strike="noStrike" cap="none" dirty="0">
                <a:solidFill>
                  <a:srgbClr val="203145"/>
                </a:solidFill>
                <a:latin typeface="Arial"/>
                <a:ea typeface="Arial"/>
                <a:cs typeface="Arial"/>
                <a:sym typeface="Arial"/>
              </a:rPr>
              <a:t>TRABAJO FINAL DE TITULACIÓN</a:t>
            </a:r>
            <a:endParaRPr sz="1200" dirty="0"/>
          </a:p>
        </p:txBody>
      </p:sp>
      <p:sp>
        <p:nvSpPr>
          <p:cNvPr id="149" name="Google Shape;149;p1"/>
          <p:cNvSpPr txBox="1"/>
          <p:nvPr/>
        </p:nvSpPr>
        <p:spPr>
          <a:xfrm>
            <a:off x="2" y="2986002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145"/>
              </a:buClr>
              <a:buSzPts val="2200"/>
              <a:buFont typeface="Arial"/>
              <a:buNone/>
            </a:pPr>
            <a:r>
              <a:rPr lang="es-419" sz="2000" b="0" i="0" u="none" strike="noStrike" cap="none" dirty="0">
                <a:solidFill>
                  <a:srgbClr val="203145"/>
                </a:solidFill>
                <a:latin typeface="Arial"/>
                <a:ea typeface="Arial"/>
                <a:cs typeface="Arial"/>
                <a:sym typeface="Arial"/>
              </a:rPr>
              <a:t>TECNOLOGÍAS DE LA INFORMACIÓN – MODALIDAD EN LÍNEA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"/>
          <p:cNvSpPr txBox="1"/>
          <p:nvPr/>
        </p:nvSpPr>
        <p:spPr>
          <a:xfrm>
            <a:off x="820500" y="3470508"/>
            <a:ext cx="105510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8532"/>
              </a:buClr>
              <a:buSzPts val="5000"/>
              <a:buFont typeface="Arial"/>
              <a:buNone/>
            </a:pPr>
            <a:r>
              <a:rPr lang="es-ES" sz="2000" b="1" dirty="0">
                <a:solidFill>
                  <a:srgbClr val="203145"/>
                </a:solidFill>
              </a:rPr>
              <a:t>PROTOTIPO DE UN SISTEMA WEB PARA PREDECIR EL ABANDONO EN ESTUDIANTES UNIVERSITARIOS MEDIANTE APRENDIZAJE AUTOMÁTICO Y CONSULTA CONVERSACIONAL.</a:t>
            </a:r>
            <a:endParaRPr sz="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0" y="6085315"/>
            <a:ext cx="121920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s-419" sz="2000" b="1" dirty="0">
                <a:solidFill>
                  <a:srgbClr val="FFFFFF"/>
                </a:solidFill>
              </a:rPr>
              <a:t>ESTUDIANTES: </a:t>
            </a:r>
            <a:r>
              <a:rPr lang="es-419" sz="1800" b="1" dirty="0">
                <a:solidFill>
                  <a:srgbClr val="FFFFFF"/>
                </a:solidFill>
              </a:rPr>
              <a:t>MARLON DAVID PÉREZ ALMACHI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s-419" sz="1800" b="1" dirty="0">
                <a:solidFill>
                  <a:srgbClr val="FFFFFF"/>
                </a:solidFill>
                <a:sym typeface="Calibri"/>
              </a:rPr>
              <a:t>                               VICTOR MANUEL LLUILEMA PISCO</a:t>
            </a:r>
          </a:p>
        </p:txBody>
      </p:sp>
      <p:sp>
        <p:nvSpPr>
          <p:cNvPr id="152" name="Google Shape;152;p1"/>
          <p:cNvSpPr txBox="1"/>
          <p:nvPr/>
        </p:nvSpPr>
        <p:spPr>
          <a:xfrm>
            <a:off x="0" y="4973495"/>
            <a:ext cx="12192000" cy="90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s-419" sz="1800" b="1" dirty="0">
                <a:solidFill>
                  <a:srgbClr val="203145"/>
                </a:solidFill>
              </a:rPr>
              <a:t>DOCENTES</a:t>
            </a:r>
            <a:r>
              <a:rPr lang="es-419" sz="1800" b="1" dirty="0">
                <a:solidFill>
                  <a:schemeClr val="dk1"/>
                </a:solidFill>
              </a:rPr>
              <a:t>: </a:t>
            </a:r>
            <a:br>
              <a:rPr lang="es-419" sz="1800" b="1" dirty="0">
                <a:solidFill>
                  <a:schemeClr val="dk1"/>
                </a:solidFill>
              </a:rPr>
            </a:br>
            <a:r>
              <a:rPr lang="es-419" sz="1600" dirty="0">
                <a:solidFill>
                  <a:srgbClr val="203145"/>
                </a:solidFill>
              </a:rPr>
              <a:t>M.sc. PERALTA CORREA MIRELLA AZUCENA </a:t>
            </a:r>
            <a:br>
              <a:rPr lang="es-419" sz="1600" dirty="0">
                <a:solidFill>
                  <a:srgbClr val="203145"/>
                </a:solidFill>
              </a:rPr>
            </a:br>
            <a:r>
              <a:rPr lang="es-419" sz="1600" dirty="0">
                <a:solidFill>
                  <a:srgbClr val="203145"/>
                </a:solidFill>
              </a:rPr>
              <a:t>M.sc. ESPINOZA BRAVO MARÍA GABRIELA   </a:t>
            </a:r>
            <a:endParaRPr lang="es-419" sz="2000" dirty="0">
              <a:solidFill>
                <a:srgbClr val="203145"/>
              </a:solidFill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Contenido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1403" y="2065978"/>
            <a:ext cx="5244325" cy="839384"/>
          </a:xfrm>
          <a:prstGeom prst="roundRect">
            <a:avLst>
              <a:gd name="adj" fmla="val 8577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8800" rIns="118800" tIns="118800" bIns="118800">
            <a:no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3404" y="2239824"/>
            <a:ext cx="614615" cy="491692"/>
          </a:xfrm>
          <a:prstGeom prst="roundRect">
            <a:avLst>
              <a:gd name="adj" fmla="val 10982"/>
            </a:avLst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8020" y="2065978"/>
            <a:ext cx="4413708" cy="839384"/>
          </a:xfrm>
          <a:prstGeom prst="rect">
            <a:avLst/>
          </a:prstGeom>
          <a:noFill/>
        </p:spPr>
        <p:txBody>
          <a:bodyPr wrap="square" lIns="36000" rIns="36000" tIns="36000" bIns="36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Problema y objetivos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730" y="2065978"/>
            <a:ext cx="5244325" cy="839384"/>
          </a:xfrm>
          <a:prstGeom prst="roundRect">
            <a:avLst>
              <a:gd name="adj" fmla="val 8577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8800" rIns="118800" tIns="118800" bIns="118800">
            <a:noAutofit/>
          </a:bodyPr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7730" y="2239824"/>
            <a:ext cx="614615" cy="491692"/>
          </a:xfrm>
          <a:prstGeom prst="roundRect">
            <a:avLst>
              <a:gd name="adj" fmla="val 10982"/>
            </a:avLst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347" y="2065978"/>
            <a:ext cx="4413708" cy="839384"/>
          </a:xfrm>
          <a:prstGeom prst="rect">
            <a:avLst/>
          </a:prstGeom>
          <a:noFill/>
        </p:spPr>
        <p:txBody>
          <a:bodyPr wrap="square" lIns="36000" rIns="36000" tIns="36000" bIns="36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Base conceptual y trabajos previos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403" y="3013363"/>
            <a:ext cx="5244325" cy="563693"/>
          </a:xfrm>
          <a:prstGeom prst="roundRect">
            <a:avLst>
              <a:gd name="adj" fmla="val 12772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8800" rIns="118800" tIns="118800" bIns="118800">
            <a:no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3404" y="3049363"/>
            <a:ext cx="614615" cy="491692"/>
          </a:xfrm>
          <a:prstGeom prst="roundRect">
            <a:avLst>
              <a:gd name="adj" fmla="val 10982"/>
            </a:avLst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8020" y="3013363"/>
            <a:ext cx="4413708" cy="563693"/>
          </a:xfrm>
          <a:prstGeom prst="rect">
            <a:avLst/>
          </a:prstGeom>
          <a:noFill/>
        </p:spPr>
        <p:txBody>
          <a:bodyPr wrap="square" lIns="36000" rIns="36000" tIns="36000" bIns="36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Metodología y requerimientos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730" y="3013363"/>
            <a:ext cx="5244325" cy="563693"/>
          </a:xfrm>
          <a:prstGeom prst="roundRect">
            <a:avLst>
              <a:gd name="adj" fmla="val 12772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8800" rIns="118800" tIns="118800" bIns="118800">
            <a:noAutofit/>
          </a:bodyPr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7730" y="3049363"/>
            <a:ext cx="614615" cy="491692"/>
          </a:xfrm>
          <a:prstGeom prst="roundRect">
            <a:avLst>
              <a:gd name="adj" fmla="val 10982"/>
            </a:avLst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347" y="3013363"/>
            <a:ext cx="4413708" cy="563693"/>
          </a:xfrm>
          <a:prstGeom prst="rect">
            <a:avLst/>
          </a:prstGeom>
          <a:noFill/>
        </p:spPr>
        <p:txBody>
          <a:bodyPr wrap="square" lIns="36000" rIns="36000" tIns="36000" bIns="36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Arquitectura, datos y diagramas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403" y="3685057"/>
            <a:ext cx="5244325" cy="839384"/>
          </a:xfrm>
          <a:prstGeom prst="roundRect">
            <a:avLst>
              <a:gd name="adj" fmla="val 8577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8800" rIns="118800" tIns="118800" bIns="118800">
            <a:noAutofit/>
          </a:bodyPr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3404" y="3858903"/>
            <a:ext cx="614615" cy="491692"/>
          </a:xfrm>
          <a:prstGeom prst="roundRect">
            <a:avLst>
              <a:gd name="adj" fmla="val 10982"/>
            </a:avLst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8020" y="3685057"/>
            <a:ext cx="4413708" cy="839384"/>
          </a:xfrm>
          <a:prstGeom prst="rect">
            <a:avLst/>
          </a:prstGeom>
          <a:noFill/>
        </p:spPr>
        <p:txBody>
          <a:bodyPr wrap="square" lIns="36000" rIns="36000" tIns="36000" bIns="36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Resultados del modelo y de la consulta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730" y="3685057"/>
            <a:ext cx="5244325" cy="839384"/>
          </a:xfrm>
          <a:prstGeom prst="roundRect">
            <a:avLst>
              <a:gd name="adj" fmla="val 8577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8800" rIns="118800" tIns="118800" bIns="118800">
            <a:noAutofit/>
          </a:bodyPr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7730" y="3858903"/>
            <a:ext cx="614615" cy="491692"/>
          </a:xfrm>
          <a:prstGeom prst="roundRect">
            <a:avLst>
              <a:gd name="adj" fmla="val 10982"/>
            </a:avLst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2347" y="3685057"/>
            <a:ext cx="4413708" cy="839384"/>
          </a:xfrm>
          <a:prstGeom prst="rect">
            <a:avLst/>
          </a:prstGeom>
          <a:noFill/>
        </p:spPr>
        <p:txBody>
          <a:bodyPr wrap="square" lIns="36000" rIns="36000" tIns="36000" bIns="36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Seguridad, gobierno de datos y operación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1403" y="4632442"/>
            <a:ext cx="5244325" cy="563693"/>
          </a:xfrm>
          <a:prstGeom prst="roundRect">
            <a:avLst>
              <a:gd name="adj" fmla="val 12772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8800" rIns="118800" tIns="118800" bIns="118800">
            <a:noAutofit/>
          </a:bodyPr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404" y="4668442"/>
            <a:ext cx="614615" cy="491692"/>
          </a:xfrm>
          <a:prstGeom prst="roundRect">
            <a:avLst>
              <a:gd name="adj" fmla="val 10982"/>
            </a:avLst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8020" y="4632442"/>
            <a:ext cx="4413708" cy="563693"/>
          </a:xfrm>
          <a:prstGeom prst="rect">
            <a:avLst/>
          </a:prstGeom>
          <a:noFill/>
        </p:spPr>
        <p:txBody>
          <a:bodyPr wrap="square" lIns="36000" rIns="36000" tIns="36000" bIns="36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Demostración del sistema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730" y="4632442"/>
            <a:ext cx="5244325" cy="563693"/>
          </a:xfrm>
          <a:prstGeom prst="roundRect">
            <a:avLst>
              <a:gd name="adj" fmla="val 12772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8800" rIns="118800" tIns="118800" bIns="118800">
            <a:noAutofit/>
          </a:bodyPr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57730" y="4668442"/>
            <a:ext cx="614615" cy="491692"/>
          </a:xfrm>
          <a:prstGeom prst="roundRect">
            <a:avLst>
              <a:gd name="adj" fmla="val 10982"/>
            </a:avLst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2347" y="4632442"/>
            <a:ext cx="4413708" cy="563693"/>
          </a:xfrm>
          <a:prstGeom prst="rect">
            <a:avLst/>
          </a:prstGeom>
          <a:noFill/>
        </p:spPr>
        <p:txBody>
          <a:bodyPr wrap="square" lIns="36000" rIns="36000" tIns="36000" bIns="36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Conclusiones e innovación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El abandono se mide tarde y con datos dispersos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403" y="2172986"/>
            <a:ext cx="3436216" cy="2481985"/>
          </a:xfrm>
          <a:prstGeom prst="roundRect">
            <a:avLst>
              <a:gd name="adj" fmla="val 3263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44,90 %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probabilidad de abandono en cinco cohortes de una universidad ecuatoriana (Núñez-Naranjo, 2024)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7621" y="2172986"/>
            <a:ext cx="3436216" cy="2481985"/>
          </a:xfrm>
          <a:prstGeom prst="roundRect">
            <a:avLst>
              <a:gd name="adj" fmla="val 3263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484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de 1.078 estudiantes admitidos abandonaron en ese mismo estudio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3839" y="2172986"/>
            <a:ext cx="3436216" cy="2481985"/>
          </a:xfrm>
          <a:prstGeom prst="roundRect">
            <a:avLst>
              <a:gd name="adj" fmla="val 3263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≈ 0,70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ROC-AUC que informan los estudios que validan con cohortes futuras (Carballo-Mendívil et al., 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403" y="4834973"/>
            <a:ext cx="10668652" cy="599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La universidad ya registra las señales (notas, asistencia, aula virtual, cartera), pero en sistemas separados y para conocer el estado actual, no para anticipar el retiro.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2111400"/>
            <a:ext cx="6187818" cy="3039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1275"/>
              </a:spcAft>
            </a:pPr>
            <a:r>
              <a:rPr sz="24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Desarrollar un prototipo de sistema web que prediga el abandono de estudiantes universitarios mediante aprendizaje automático y permita consultar sus resultados en lenguaje natural, para que autoridades y bienestar estudiantil identifiquen tempranamente a quienes están en riesgo y prioricen su acompañamiento.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65223" y="2111400"/>
            <a:ext cx="4264832" cy="2931616"/>
          </a:xfrm>
          <a:prstGeom prst="roundRect">
            <a:avLst>
              <a:gd name="adj" fmla="val 3069"/>
            </a:avLst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62000" bIns="162000">
            <a:noAutofit/>
          </a:bodyPr>
          <a:lstStyle/>
          <a:p>
            <a:pPr algn="l">
              <a:lnSpc>
                <a:spcPts val="3115"/>
              </a:lnSpc>
              <a:spcBef>
                <a:spcPts val="0"/>
              </a:spcBef>
              <a:spcAft>
                <a:spcPts val="425"/>
              </a:spcAft>
            </a:pPr>
            <a:r>
              <a:rPr sz="2640" b="1" i="0">
                <a:solidFill>
                  <a:srgbClr val="F6A765"/>
                </a:solidFill>
                <a:latin typeface="Arial"/>
                <a:ea typeface="Arial"/>
                <a:cs typeface="Arial"/>
              </a:rPr>
              <a:t>Qué · cómo · para qué</a:t>
            </a:r>
          </a:p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sistema de alerta temprana, construido con CRISP-DM, un almacén en SQL Server, LightGBM y NL2SQL, para actuar antes del retiro.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Objetivos específicos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1403" y="1271975"/>
            <a:ext cx="5244325" cy="2096133"/>
          </a:xfrm>
          <a:prstGeom prst="roundRect">
            <a:avLst>
              <a:gd name="adj" fmla="val 3864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>
            <a:no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3566" y="1397976"/>
            <a:ext cx="780000" cy="780000"/>
          </a:xfrm>
          <a:prstGeom prst="ellipse">
            <a:avLst/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/>
          </a:p>
        </p:txBody>
      </p:sp>
      <p:pic>
        <p:nvPicPr>
          <p:cNvPr id="9" name="Picture 8" descr="busqu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566" y="1553976"/>
            <a:ext cx="468000" cy="46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1403" y="2141976"/>
            <a:ext cx="5244325" cy="1226133"/>
          </a:xfrm>
          <a:prstGeom prst="rect">
            <a:avLst/>
          </a:prstGeom>
          <a:noFill/>
        </p:spPr>
        <p:txBody>
          <a:bodyPr wrap="square" lIns="126000" rIns="126000" tIns="126000" bIns="12600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354"/>
              </a:spcAft>
            </a:pPr>
            <a:r>
              <a:rPr sz="22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Analizar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Procesos y variables del abandono para derivar requerimientos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730" y="1271975"/>
            <a:ext cx="5244325" cy="2096133"/>
          </a:xfrm>
          <a:prstGeom prst="roundRect">
            <a:avLst>
              <a:gd name="adj" fmla="val 3864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7893" y="1397976"/>
            <a:ext cx="780000" cy="780000"/>
          </a:xfrm>
          <a:prstGeom prst="ellipse">
            <a:avLst/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/>
          </a:p>
        </p:txBody>
      </p:sp>
      <p:pic>
        <p:nvPicPr>
          <p:cNvPr id="13" name="Picture 12" descr="grafico_barr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893" y="1553976"/>
            <a:ext cx="468000" cy="46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85730" y="2141976"/>
            <a:ext cx="5244325" cy="1226133"/>
          </a:xfrm>
          <a:prstGeom prst="rect">
            <a:avLst/>
          </a:prstGeom>
          <a:noFill/>
        </p:spPr>
        <p:txBody>
          <a:bodyPr wrap="square" lIns="126000" rIns="126000" tIns="126000" bIns="12600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354"/>
              </a:spcAft>
            </a:pPr>
            <a:r>
              <a:rPr sz="22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Construir y validar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Modelo calibrado y explicable, validado en el tiempo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403" y="3548110"/>
            <a:ext cx="5244325" cy="2096133"/>
          </a:xfrm>
          <a:prstGeom prst="roundRect">
            <a:avLst>
              <a:gd name="adj" fmla="val 3864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>
            <a:noAutofit/>
          </a:bodyPr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3566" y="3674111"/>
            <a:ext cx="780000" cy="780000"/>
          </a:xfrm>
          <a:prstGeom prst="ellipse">
            <a:avLst/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/>
          </a:p>
        </p:txBody>
      </p:sp>
      <p:pic>
        <p:nvPicPr>
          <p:cNvPr id="17" name="Picture 16" descr="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9566" y="3830111"/>
            <a:ext cx="468000" cy="46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1403" y="4418111"/>
            <a:ext cx="5244325" cy="1226133"/>
          </a:xfrm>
          <a:prstGeom prst="rect">
            <a:avLst/>
          </a:prstGeom>
          <a:noFill/>
        </p:spPr>
        <p:txBody>
          <a:bodyPr wrap="square" lIns="126000" rIns="126000" tIns="126000" bIns="12600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354"/>
              </a:spcAft>
            </a:pPr>
            <a:r>
              <a:rPr sz="22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Implementar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Sistema web por roles con panel, ficha y consulta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730" y="3548110"/>
            <a:ext cx="5244325" cy="2096133"/>
          </a:xfrm>
          <a:prstGeom prst="roundRect">
            <a:avLst>
              <a:gd name="adj" fmla="val 3864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7893" y="3674111"/>
            <a:ext cx="780000" cy="780000"/>
          </a:xfrm>
          <a:prstGeom prst="ellipse">
            <a:avLst/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/>
          </a:p>
        </p:txBody>
      </p:sp>
      <p:pic>
        <p:nvPicPr>
          <p:cNvPr id="21" name="Picture 20" descr="verificac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893" y="3830111"/>
            <a:ext cx="468000" cy="468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85730" y="4418111"/>
            <a:ext cx="5244325" cy="1226133"/>
          </a:xfrm>
          <a:prstGeom prst="rect">
            <a:avLst/>
          </a:prstGeom>
          <a:noFill/>
        </p:spPr>
        <p:txBody>
          <a:bodyPr wrap="square" lIns="126000" rIns="126000" tIns="126000" bIns="12600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354"/>
              </a:spcAft>
            </a:pPr>
            <a:r>
              <a:rPr sz="22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Evaluar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Métricas predictivas, de la consulta y de protección de datos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Trabajos previos frente al 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14 estudios comparados; aquí, siete representativos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1403" y="1761841"/>
          <a:ext cx="10668651" cy="4496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632"/>
                <a:gridCol w="3103608"/>
                <a:gridCol w="2521681"/>
                <a:gridCol w="2133730"/>
              </a:tblGrid>
              <a:tr h="62949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Estudio</a:t>
                      </a:r>
                    </a:p>
                  </a:txBody>
                  <a:tcPr marL="45000" marR="45000" marT="45000" marB="45000">
                    <a:solidFill>
                      <a:srgbClr val="2031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Técnica</a:t>
                      </a:r>
                    </a:p>
                  </a:txBody>
                  <a:tcPr marL="45000" marR="45000" marT="45000" marB="45000">
                    <a:solidFill>
                      <a:srgbClr val="2031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</a:p>
                  </a:txBody>
                  <a:tcPr marL="45000" marR="45000" marT="45000" marB="45000">
                    <a:solidFill>
                      <a:srgbClr val="2031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Sistema / NL / Gobierno</a:t>
                      </a:r>
                    </a:p>
                  </a:txBody>
                  <a:tcPr marL="45000" marR="45000" marT="45000" marB="45000">
                    <a:solidFill>
                      <a:srgbClr val="203145"/>
                    </a:solidFill>
                  </a:tcPr>
                </a:tc>
              </a:tr>
              <a:tr h="62949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Núñez-Naranjo (2024)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Regresión logística multinivel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Abandono de 44,90 %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No / No / No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</a:tr>
              <a:tr h="62949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Carballo-Mendívil et al. (2025)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XGBoost, prueba prospectiva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ROC-AUC 0,69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Parcial / No / No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</a:tr>
              <a:tr h="35974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Rabelo y Zárate (2025)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Ensamble de modelos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Detecta 98,1 %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No / No / No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</a:tr>
              <a:tr h="62949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Vaarma y Li (2024)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Predicción mensual con Moodle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Créditos y actividad clave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No / No / No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</a:tr>
              <a:tr h="35974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Kuzilek et al. (2017)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Conjunto OULAD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32.593 matrículas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No aplica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</a:tr>
              <a:tr h="62949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Ascoli y Choi (2025)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NL2SQL con LLM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Mejor exactitud con contexto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No aplica / Sí / No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</a:tr>
              <a:tr h="62949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VicMar (este trabajo)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LightGBM + K-means + NL2SQL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ROC-AUC 0,768 (OULAD)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Sí / Sí / Sí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Metodología CRISP-DM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Seis fases con entregables verificables</a:t>
            </a:r>
          </a:p>
        </p:txBody>
      </p:sp>
      <p:pic>
        <p:nvPicPr>
          <p:cNvPr id="8" name="Picture 7" descr="av2_crisp_d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792" y="1751066"/>
            <a:ext cx="7783875" cy="45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Requerimientos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Derivados de las cuatro piezas: modelo, segmentación, NL2SQL y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403" y="2698514"/>
            <a:ext cx="3436216" cy="1582825"/>
          </a:xfrm>
          <a:prstGeom prst="roundRect">
            <a:avLst>
              <a:gd name="adj" fmla="val 5117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23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requerimientos funcionales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7621" y="2698514"/>
            <a:ext cx="3436216" cy="1582825"/>
          </a:xfrm>
          <a:prstGeom prst="roundRect">
            <a:avLst>
              <a:gd name="adj" fmla="val 5117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11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no funcionales con métrica verificable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3839" y="2698514"/>
            <a:ext cx="3436216" cy="1582825"/>
          </a:xfrm>
          <a:prstGeom prst="roundRect">
            <a:avLst>
              <a:gd name="adj" fmla="val 5117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10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historias de usuario para la autoridad sin perfil técnico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403" y="4461341"/>
            <a:ext cx="10668652" cy="8991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Criterios fijados antes de evaluar: ROC-AUC ≥ 0,75 global y ≥ 0,70 por periodo, exactitud de la consulta ≥ 85 %, 100 % de preguntas maliciosas contenidas y ninguna fuga entre instituciones.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Arquitectura de la 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Cliente-servidor en capas, con el almacén como única fuente</a:t>
            </a:r>
          </a:p>
        </p:txBody>
      </p:sp>
      <p:pic>
        <p:nvPicPr>
          <p:cNvPr id="8" name="Picture 7" descr="av2_arquitec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075" y="1751066"/>
            <a:ext cx="4875309" cy="45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Frontend y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Tecnologías y responsabilidades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1403" y="2061589"/>
          <a:ext cx="10668651" cy="3597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22"/>
                <a:gridCol w="4046730"/>
                <a:gridCol w="4782499"/>
              </a:tblGrid>
              <a:tr h="35974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Capa</a:t>
                      </a:r>
                    </a:p>
                  </a:txBody>
                  <a:tcPr marL="45000" marR="45000" marT="45000" marB="45000">
                    <a:solidFill>
                      <a:srgbClr val="2031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Tecnología</a:t>
                      </a:r>
                    </a:p>
                  </a:txBody>
                  <a:tcPr marL="45000" marR="45000" marT="45000" marB="45000">
                    <a:solidFill>
                      <a:srgbClr val="2031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Responsabilidad</a:t>
                      </a:r>
                    </a:p>
                  </a:txBody>
                  <a:tcPr marL="45000" marR="45000" marT="45000" marB="45000">
                    <a:solidFill>
                      <a:srgbClr val="203145"/>
                    </a:solidFill>
                  </a:tcPr>
                </a:tc>
              </a:tr>
              <a:tr h="62949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React 18, TypeScript, Vite, Tailwind, TanStack Query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Pantallas por rol, tema claro y oscuro, sesión y caché de consultas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</a:tr>
              <a:tr h="35974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API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FastAPI (Python)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27 servicios REST, JWT, roles y auditoría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</a:tr>
              <a:tr h="62949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LightGBM, Platt, SHAP, K-means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Predicción calibrada, explicación y segmentos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</a:tr>
              <a:tr h="62949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Consulta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Router TF-IDF, LLM en cascada, sqlglot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40 métricas certificadas y SQL validado de solo lectura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</a:tr>
              <a:tr h="629496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Datos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SQL Server 2022 en Docker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Esquema estrella, vistas VIS_* y SESSION_CONTEXT</a:t>
                      </a:r>
                    </a:p>
                  </a:txBody>
                  <a:tcPr marL="45000" marR="45000" marT="45000" marB="45000">
                    <a:solidFill>
                      <a:srgbClr val="EAF1F8"/>
                    </a:solidFill>
                  </a:tcPr>
                </a:tc>
              </a:tr>
              <a:tr h="35974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E2A36"/>
                          </a:solidFill>
                          <a:latin typeface="Arial"/>
                        </a:rPr>
                        <a:t>Operación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MLflow, Great Expectations, Evidently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E2A36"/>
                          </a:solidFill>
                          <a:latin typeface="Arial"/>
                        </a:rPr>
                        <a:t>Registro, calidad y deriva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Modelo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Esquema estrella del almacén académico</a:t>
            </a:r>
          </a:p>
        </p:txBody>
      </p:sp>
      <p:pic>
        <p:nvPicPr>
          <p:cNvPr id="8" name="Picture 7" descr="av2_modelo_estrel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636" y="1751066"/>
            <a:ext cx="4120186" cy="45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Secuencia de una consulta en lenguaje natural</a:t>
            </a:r>
          </a:p>
        </p:txBody>
      </p:sp>
      <p:pic>
        <p:nvPicPr>
          <p:cNvPr id="7" name="Picture 6" descr="av2_secuencia_consul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847" y="1219798"/>
            <a:ext cx="3385765" cy="45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Resultados del 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LightGBM calibrado, probado con periodos que no vio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403" y="2548654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0,829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ROC-AUC temporal, UNEMI (datos de prueba)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3567" y="2548654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0,768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ROC-AUC temporal, OULAD (datos reales)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730" y="2548654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79 %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de los abandonos detectados con el umbral medio (OULAD)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7893" y="2548654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0,763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ROC-AUC prospectivo con datos reales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403" y="4910921"/>
            <a:ext cx="10668652" cy="599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Los cuatro algoritmos se compararon con validación cruzada agrupada por estudiante; LightGBM fue el mejor en las dos instituciones.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Desempeño por periodo y por carrera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Validación con origen móvil: cada periodo se predice solo con el pasado</a:t>
            </a:r>
          </a:p>
        </p:txBody>
      </p:sp>
      <p:pic>
        <p:nvPicPr>
          <p:cNvPr id="8" name="Picture 7" descr="tf_desempeno_perio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791" y="1808907"/>
            <a:ext cx="9225876" cy="4151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1403" y="6032308"/>
            <a:ext cx="10668652" cy="131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38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1">
                <a:solidFill>
                  <a:srgbClr val="5A6B7B"/>
                </a:solidFill>
                <a:latin typeface="Arial"/>
                <a:ea typeface="Arial"/>
                <a:cs typeface="Arial"/>
              </a:rPr>
              <a:t>ROC-AUC por periodo: UNEMI 0,827 a 0,836; OULAD 0,742 a 0,779; módulos de OULAD 0,677 a 0,815.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Consulta conversacional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Evaluada con un conjunto dorado de preguntas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403" y="2938375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100 %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exactitud por ejecución en 40 preguntas base y 12 de robustez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3567" y="2938375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8/8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preguntas maliciosas contenidas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730" y="2938375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0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lecturas de otra institución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7893" y="2938375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77 ms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latencia mediana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Seguridad y gobierno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LOPDP aplicada en el motor, no solo en la pantalla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403" y="1765303"/>
            <a:ext cx="3436216" cy="2010677"/>
          </a:xfrm>
          <a:prstGeom prst="roundRect">
            <a:avLst>
              <a:gd name="adj" fmla="val 4028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2599" rIns="102599" tIns="102599" bIns="102599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09012" y="1891304"/>
            <a:ext cx="741000" cy="741000"/>
          </a:xfrm>
          <a:prstGeom prst="ellipse">
            <a:avLst/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/>
          </a:p>
        </p:txBody>
      </p:sp>
      <p:pic>
        <p:nvPicPr>
          <p:cNvPr id="10" name="Picture 9" descr="cand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212" y="2039504"/>
            <a:ext cx="444600" cy="444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1403" y="2596303"/>
            <a:ext cx="3436216" cy="1179676"/>
          </a:xfrm>
          <a:prstGeom prst="rect">
            <a:avLst/>
          </a:prstGeom>
          <a:noFill/>
        </p:spPr>
        <p:txBody>
          <a:bodyPr wrap="square" lIns="126000" rIns="126000" tIns="126000" bIns="126000" anchor="t">
            <a:noAutofit/>
          </a:bodyPr>
          <a:lstStyle/>
          <a:p>
            <a:pPr algn="ctr">
              <a:lnSpc>
                <a:spcPts val="2466"/>
              </a:lnSpc>
              <a:spcBef>
                <a:spcPts val="0"/>
              </a:spcBef>
              <a:spcAft>
                <a:spcPts val="354"/>
              </a:spcAft>
            </a:pPr>
            <a:r>
              <a:rPr sz="209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Aislamiento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SESSION_CONTEXT y vistas por institución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7621" y="1765303"/>
            <a:ext cx="3436216" cy="2010677"/>
          </a:xfrm>
          <a:prstGeom prst="roundRect">
            <a:avLst>
              <a:gd name="adj" fmla="val 4028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2599" rIns="102599" tIns="102599" bIns="102599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25229" y="1891304"/>
            <a:ext cx="741000" cy="741000"/>
          </a:xfrm>
          <a:prstGeom prst="ellipse">
            <a:avLst/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/>
          </a:p>
        </p:txBody>
      </p:sp>
      <p:pic>
        <p:nvPicPr>
          <p:cNvPr id="14" name="Picture 13" descr="ll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3429" y="2039504"/>
            <a:ext cx="444600" cy="44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77621" y="2596303"/>
            <a:ext cx="3436216" cy="1179676"/>
          </a:xfrm>
          <a:prstGeom prst="rect">
            <a:avLst/>
          </a:prstGeom>
          <a:noFill/>
        </p:spPr>
        <p:txBody>
          <a:bodyPr wrap="square" lIns="126000" rIns="126000" tIns="126000" bIns="126000" anchor="t">
            <a:noAutofit/>
          </a:bodyPr>
          <a:lstStyle/>
          <a:p>
            <a:pPr algn="ctr">
              <a:lnSpc>
                <a:spcPts val="2466"/>
              </a:lnSpc>
              <a:spcBef>
                <a:spcPts val="0"/>
              </a:spcBef>
              <a:spcAft>
                <a:spcPts val="354"/>
              </a:spcAft>
            </a:pPr>
            <a:r>
              <a:rPr sz="209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Mínimo privilegio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Cuentas chat_reader y app_seguimiento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3839" y="1765303"/>
            <a:ext cx="3436216" cy="2010677"/>
          </a:xfrm>
          <a:prstGeom prst="roundRect">
            <a:avLst>
              <a:gd name="adj" fmla="val 4028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2599" rIns="102599" tIns="102599" bIns="102599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41447" y="1891304"/>
            <a:ext cx="741000" cy="741000"/>
          </a:xfrm>
          <a:prstGeom prst="ellipse">
            <a:avLst/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/>
          </a:p>
        </p:txBody>
      </p:sp>
      <p:pic>
        <p:nvPicPr>
          <p:cNvPr id="18" name="Picture 17" descr="usuario_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647" y="2039504"/>
            <a:ext cx="444600" cy="444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93839" y="2596303"/>
            <a:ext cx="3436216" cy="1179676"/>
          </a:xfrm>
          <a:prstGeom prst="rect">
            <a:avLst/>
          </a:prstGeom>
          <a:noFill/>
        </p:spPr>
        <p:txBody>
          <a:bodyPr wrap="square" lIns="126000" rIns="126000" tIns="126000" bIns="126000" anchor="t">
            <a:noAutofit/>
          </a:bodyPr>
          <a:lstStyle/>
          <a:p>
            <a:pPr algn="ctr">
              <a:lnSpc>
                <a:spcPts val="2466"/>
              </a:lnSpc>
              <a:spcBef>
                <a:spcPts val="0"/>
              </a:spcBef>
              <a:spcAft>
                <a:spcPts val="354"/>
              </a:spcAft>
            </a:pPr>
            <a:r>
              <a:rPr sz="209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Tres roles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Autoridad, bienestar y TI, con auditoría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403" y="3955981"/>
            <a:ext cx="3436216" cy="2295411"/>
          </a:xfrm>
          <a:prstGeom prst="roundRect">
            <a:avLst>
              <a:gd name="adj" fmla="val 3528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2599" rIns="102599" tIns="102599" bIns="102599">
            <a:no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09012" y="4081982"/>
            <a:ext cx="741000" cy="741000"/>
          </a:xfrm>
          <a:prstGeom prst="ellipse">
            <a:avLst/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/>
          </a:p>
        </p:txBody>
      </p:sp>
      <p:pic>
        <p:nvPicPr>
          <p:cNvPr id="22" name="Picture 21" descr="protecc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7212" y="4230182"/>
            <a:ext cx="444600" cy="444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1403" y="4786982"/>
            <a:ext cx="3436216" cy="1464410"/>
          </a:xfrm>
          <a:prstGeom prst="rect">
            <a:avLst/>
          </a:prstGeom>
          <a:noFill/>
        </p:spPr>
        <p:txBody>
          <a:bodyPr wrap="square" lIns="126000" rIns="126000" tIns="126000" bIns="126000" anchor="t">
            <a:noAutofit/>
          </a:bodyPr>
          <a:lstStyle/>
          <a:p>
            <a:pPr algn="ctr">
              <a:lnSpc>
                <a:spcPts val="2466"/>
              </a:lnSpc>
              <a:spcBef>
                <a:spcPts val="0"/>
              </a:spcBef>
              <a:spcAft>
                <a:spcPts val="354"/>
              </a:spcAft>
            </a:pPr>
            <a:r>
              <a:rPr sz="209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Anonimización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Seudónimos HMAC y k-anonimato k =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7621" y="3955981"/>
            <a:ext cx="3436216" cy="2295411"/>
          </a:xfrm>
          <a:prstGeom prst="roundRect">
            <a:avLst>
              <a:gd name="adj" fmla="val 3528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2599" rIns="102599" tIns="102599" bIns="102599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25229" y="4081982"/>
            <a:ext cx="741000" cy="741000"/>
          </a:xfrm>
          <a:prstGeom prst="ellipse">
            <a:avLst/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/>
          </a:p>
        </p:txBody>
      </p:sp>
      <p:pic>
        <p:nvPicPr>
          <p:cNvPr id="26" name="Picture 25" descr="l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3429" y="4230182"/>
            <a:ext cx="444600" cy="444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77621" y="4786982"/>
            <a:ext cx="3436216" cy="1464410"/>
          </a:xfrm>
          <a:prstGeom prst="rect">
            <a:avLst/>
          </a:prstGeom>
          <a:noFill/>
        </p:spPr>
        <p:txBody>
          <a:bodyPr wrap="square" lIns="126000" rIns="126000" tIns="126000" bIns="126000" anchor="t">
            <a:noAutofit/>
          </a:bodyPr>
          <a:lstStyle/>
          <a:p>
            <a:pPr algn="ctr">
              <a:lnSpc>
                <a:spcPts val="2466"/>
              </a:lnSpc>
              <a:spcBef>
                <a:spcPts val="0"/>
              </a:spcBef>
              <a:spcAft>
                <a:spcPts val="354"/>
              </a:spcAft>
            </a:pPr>
            <a:r>
              <a:rPr sz="209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Gobierno de datos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Documento LOPDP con roles, ciclo de vida e incidentes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3839" y="3955981"/>
            <a:ext cx="3436216" cy="2295411"/>
          </a:xfrm>
          <a:prstGeom prst="roundRect">
            <a:avLst>
              <a:gd name="adj" fmla="val 3528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2599" rIns="102599" tIns="102599" bIns="102599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41447" y="4081982"/>
            <a:ext cx="741000" cy="741000"/>
          </a:xfrm>
          <a:prstGeom prst="ellipse">
            <a:avLst/>
          </a:prstGeom>
          <a:solidFill>
            <a:srgbClr val="203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/>
          </a:p>
        </p:txBody>
      </p:sp>
      <p:pic>
        <p:nvPicPr>
          <p:cNvPr id="30" name="Picture 29" descr="alert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9647" y="4230182"/>
            <a:ext cx="444600" cy="444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93839" y="4786982"/>
            <a:ext cx="3436216" cy="1464410"/>
          </a:xfrm>
          <a:prstGeom prst="rect">
            <a:avLst/>
          </a:prstGeom>
          <a:noFill/>
        </p:spPr>
        <p:txBody>
          <a:bodyPr wrap="square" lIns="126000" rIns="126000" tIns="126000" bIns="126000" anchor="t">
            <a:noAutofit/>
          </a:bodyPr>
          <a:lstStyle/>
          <a:p>
            <a:pPr algn="ctr">
              <a:lnSpc>
                <a:spcPts val="2466"/>
              </a:lnSpc>
              <a:spcBef>
                <a:spcPts val="0"/>
              </a:spcBef>
              <a:spcAft>
                <a:spcPts val="354"/>
              </a:spcAft>
            </a:pPr>
            <a:r>
              <a:rPr sz="209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Interruptor de IA</a:t>
            </a:r>
          </a:p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La interpretación con LLM se apaga por configuración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Operación del modelo (MLOps)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267206"/>
            <a:ext cx="10668652" cy="2397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Cada corrida se valida, se vigila y se registra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403" y="2548654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23/23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expectativas de calidad cumplidas (Great Expectations)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3567" y="2548654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16/33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variables con deriva en OULAD (Evidently)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5730" y="2548654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MLflow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registro de parámetros, métricas y modelo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7893" y="2548654"/>
            <a:ext cx="2532162" cy="2182265"/>
          </a:xfrm>
          <a:prstGeom prst="roundRect">
            <a:avLst>
              <a:gd name="adj" fmla="val 3711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>
            <a:noAutofit/>
          </a:bodyPr>
          <a:lstStyle/>
          <a:p>
            <a:pPr algn="ctr">
              <a:lnSpc>
                <a:spcPts val="5191"/>
              </a:lnSpc>
              <a:spcBef>
                <a:spcPts val="0"/>
              </a:spcBef>
              <a:spcAft>
                <a:spcPts val="283"/>
              </a:spcAft>
            </a:pPr>
            <a:r>
              <a:rPr sz="44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178 + 11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pruebas automatizadas (backend + frontend)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403" y="4910921"/>
            <a:ext cx="10668652" cy="599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Metabase queda como vía de consulta alternativa para analistas, sobre un esquema agregado sin datos personales.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Demostración del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403" y="1152630"/>
            <a:ext cx="5334326" cy="4730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02399" indent="-302399">
              <a:lnSpc>
                <a:spcPts val="2832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</a:pPr>
            <a:r>
              <a:rPr sz="24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Ingreso con rol de autoridad académica</a:t>
            </a:r>
          </a:p>
          <a:p>
            <a:pPr algn="l" marL="302399" indent="-302399">
              <a:lnSpc>
                <a:spcPts val="2832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</a:pPr>
            <a:r>
              <a:rPr sz="24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Panel ejecutivo y lista priorizada</a:t>
            </a:r>
          </a:p>
          <a:p>
            <a:pPr algn="l" marL="302399" indent="-302399">
              <a:lnSpc>
                <a:spcPts val="2832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</a:pPr>
            <a:r>
              <a:rPr sz="24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Ficha explicada y simulador</a:t>
            </a:r>
          </a:p>
          <a:p>
            <a:pPr algn="l" marL="302399" indent="-302399">
              <a:lnSpc>
                <a:spcPts val="2832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</a:pPr>
            <a:r>
              <a:rPr sz="24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Pregunta en lenguaje natural</a:t>
            </a:r>
          </a:p>
          <a:p>
            <a:pPr algn="l" marL="302399" indent="-302399">
              <a:lnSpc>
                <a:spcPts val="2832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</a:pPr>
            <a:r>
              <a:rPr sz="24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Calidad del modelo: por periodo y deriva</a:t>
            </a:r>
          </a:p>
          <a:p>
            <a:pPr algn="l">
              <a:lnSpc>
                <a:spcPts val="2832"/>
              </a:lnSpc>
              <a:spcBef>
                <a:spcPts val="0"/>
              </a:spcBef>
              <a:spcAft>
                <a:spcPts val="1275"/>
              </a:spcAft>
            </a:pPr>
            <a:r>
              <a:rPr sz="24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GitHub: Vm199524/PROYECTO-TITULACION-MARLON-VICTOR-UNEMI</a:t>
            </a:r>
          </a:p>
          <a:p>
            <a:pPr algn="l">
              <a:lnSpc>
                <a:spcPts val="2832"/>
              </a:lnSpc>
              <a:spcBef>
                <a:spcPts val="0"/>
              </a:spcBef>
              <a:spcAft>
                <a:spcPts val="1275"/>
              </a:spcAft>
            </a:pPr>
            <a:r>
              <a:rPr sz="24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Carpeta digital: drive.google.com (enlace en la portada del trabajo)</a:t>
            </a:r>
          </a:p>
        </p:txBody>
      </p:sp>
      <p:pic>
        <p:nvPicPr>
          <p:cNvPr id="8" name="Picture 7" descr="av2_cap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731" y="1152630"/>
            <a:ext cx="5118325" cy="31989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Innovación y limitaciones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1403" y="1875214"/>
            <a:ext cx="5226325" cy="3511684"/>
          </a:xfrm>
          <a:prstGeom prst="roundRect">
            <a:avLst>
              <a:gd name="adj" fmla="val 2306"/>
            </a:avLst>
          </a:prstGeom>
          <a:solidFill>
            <a:srgbClr val="E3F0E9"/>
          </a:solidFill>
          <a:ln w="30573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8800" rIns="118800" tIns="118800" bIns="118800">
            <a:noAutofit/>
          </a:bodyPr>
          <a:lstStyle/>
          <a:p>
            <a:pPr algn="ctr"/>
          </a:p>
        </p:txBody>
      </p:sp>
      <p:pic>
        <p:nvPicPr>
          <p:cNvPr id="8" name="Picture 7" descr="correc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404" y="2028215"/>
            <a:ext cx="379145" cy="3791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1403" y="1875214"/>
            <a:ext cx="5226325" cy="3511684"/>
          </a:xfrm>
          <a:prstGeom prst="rect">
            <a:avLst/>
          </a:prstGeom>
          <a:noFill/>
        </p:spPr>
        <p:txBody>
          <a:bodyPr wrap="square" lIns="144000" rIns="144000" tIns="144000" bIns="144000" anchor="t">
            <a:noAutofit/>
          </a:bodyPr>
          <a:lstStyle/>
          <a:p>
            <a:pPr algn="l">
              <a:lnSpc>
                <a:spcPts val="2985"/>
              </a:lnSpc>
              <a:spcBef>
                <a:spcPts val="0"/>
              </a:spcBef>
              <a:spcAft>
                <a:spcPts val="496"/>
              </a:spcAft>
            </a:pPr>
            <a:r>
              <a:rPr sz="2529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      Aporte</a:t>
            </a:r>
          </a:p>
          <a:p>
            <a:pPr algn="l" marL="277199" indent="-277199">
              <a:lnSpc>
                <a:spcPts val="2595"/>
              </a:lnSpc>
              <a:spcBef>
                <a:spcPts val="0"/>
              </a:spcBef>
              <a:spcAft>
                <a:spcPts val="283"/>
              </a:spcAft>
              <a:buFont typeface="Arial"/>
              <a:buChar char="•"/>
            </a:pPr>
            <a:r>
              <a:rPr sz="22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Predicción explicada en español dentro de un sistema por roles</a:t>
            </a:r>
          </a:p>
          <a:p>
            <a:pPr algn="l" marL="277199" indent="-277199">
              <a:lnSpc>
                <a:spcPts val="2595"/>
              </a:lnSpc>
              <a:spcBef>
                <a:spcPts val="0"/>
              </a:spcBef>
              <a:spcAft>
                <a:spcPts val="283"/>
              </a:spcAft>
              <a:buFont typeface="Arial"/>
              <a:buChar char="•"/>
            </a:pPr>
            <a:r>
              <a:rPr sz="22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Consulta conversacional con métricas certificadas y SQL validado</a:t>
            </a:r>
          </a:p>
          <a:p>
            <a:pPr algn="l" marL="277199" indent="-277199">
              <a:lnSpc>
                <a:spcPts val="2595"/>
              </a:lnSpc>
              <a:spcBef>
                <a:spcPts val="0"/>
              </a:spcBef>
              <a:spcAft>
                <a:spcPts val="283"/>
              </a:spcAft>
              <a:buFont typeface="Arial"/>
              <a:buChar char="•"/>
            </a:pPr>
            <a:r>
              <a:rPr sz="22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Aislamiento multiinstitución en la base de datos</a:t>
            </a:r>
          </a:p>
          <a:p>
            <a:pPr algn="l" marL="277199" indent="-277199">
              <a:lnSpc>
                <a:spcPts val="2595"/>
              </a:lnSpc>
              <a:spcBef>
                <a:spcPts val="0"/>
              </a:spcBef>
              <a:spcAft>
                <a:spcPts val="283"/>
              </a:spcAft>
              <a:buFont typeface="Arial"/>
              <a:buChar char="•"/>
            </a:pPr>
            <a:r>
              <a:rPr sz="22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Perfil de mapeo: OULAD se incorporó sin cambiar el modelo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3730" y="1875214"/>
            <a:ext cx="5226325" cy="3511684"/>
          </a:xfrm>
          <a:prstGeom prst="roundRect">
            <a:avLst>
              <a:gd name="adj" fmla="val 2306"/>
            </a:avLst>
          </a:prstGeom>
          <a:solidFill>
            <a:srgbClr val="F6E5E4"/>
          </a:solidFill>
          <a:ln w="30573">
            <a:solidFill>
              <a:srgbClr val="B0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8800" rIns="118800" tIns="118800" bIns="118800">
            <a:noAutofit/>
          </a:bodyPr>
          <a:lstStyle/>
          <a:p>
            <a:pPr algn="ctr"/>
          </a:p>
        </p:txBody>
      </p:sp>
      <p:pic>
        <p:nvPicPr>
          <p:cNvPr id="11" name="Picture 10" descr="err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731" y="2028215"/>
            <a:ext cx="379145" cy="3791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3730" y="1875214"/>
            <a:ext cx="5226325" cy="3511684"/>
          </a:xfrm>
          <a:prstGeom prst="rect">
            <a:avLst/>
          </a:prstGeom>
          <a:noFill/>
        </p:spPr>
        <p:txBody>
          <a:bodyPr wrap="square" lIns="144000" rIns="144000" tIns="144000" bIns="144000" anchor="t">
            <a:noAutofit/>
          </a:bodyPr>
          <a:lstStyle/>
          <a:p>
            <a:pPr algn="l">
              <a:lnSpc>
                <a:spcPts val="2985"/>
              </a:lnSpc>
              <a:spcBef>
                <a:spcPts val="0"/>
              </a:spcBef>
              <a:spcAft>
                <a:spcPts val="496"/>
              </a:spcAft>
            </a:pPr>
            <a:r>
              <a:rPr sz="2529" b="1" i="0">
                <a:solidFill>
                  <a:srgbClr val="B0413E"/>
                </a:solidFill>
                <a:latin typeface="Arial"/>
                <a:ea typeface="Arial"/>
                <a:cs typeface="Arial"/>
              </a:rPr>
              <a:t>      Limitación</a:t>
            </a:r>
          </a:p>
          <a:p>
            <a:pPr algn="l" marL="277199" indent="-277199">
              <a:lnSpc>
                <a:spcPts val="2595"/>
              </a:lnSpc>
              <a:spcBef>
                <a:spcPts val="0"/>
              </a:spcBef>
              <a:spcAft>
                <a:spcPts val="283"/>
              </a:spcAft>
              <a:buFont typeface="Arial"/>
              <a:buChar char="•"/>
            </a:pPr>
            <a:r>
              <a:rPr sz="22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UNEMI se evaluó con datos de prueba; la carrera real requiere autorización</a:t>
            </a:r>
          </a:p>
          <a:p>
            <a:pPr algn="l" marL="277199" indent="-277199">
              <a:lnSpc>
                <a:spcPts val="2595"/>
              </a:lnSpc>
              <a:spcBef>
                <a:spcPts val="0"/>
              </a:spcBef>
              <a:spcAft>
                <a:spcPts val="283"/>
              </a:spcAft>
              <a:buFont typeface="Arial"/>
              <a:buChar char="•"/>
            </a:pPr>
            <a:r>
              <a:rPr sz="22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La prueba de usabilidad con usuarios está pendiente</a:t>
            </a:r>
          </a:p>
          <a:p>
            <a:pPr algn="l" marL="277199" indent="-277199">
              <a:lnSpc>
                <a:spcPts val="2595"/>
              </a:lnSpc>
              <a:spcBef>
                <a:spcPts val="0"/>
              </a:spcBef>
              <a:spcAft>
                <a:spcPts val="283"/>
              </a:spcAft>
              <a:buFont typeface="Arial"/>
              <a:buChar char="•"/>
            </a:pPr>
            <a:r>
              <a:rPr sz="22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El modelo prioriza; no reemplaza el criterio de bienestar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1403" y="419402"/>
            <a:ext cx="10668652" cy="344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C8532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1403" y="1817370"/>
            <a:ext cx="10668652" cy="1064132"/>
          </a:xfrm>
          <a:prstGeom prst="roundRect">
            <a:avLst>
              <a:gd name="adj" fmla="val 6766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>
            <a:noAutofit/>
          </a:bodyPr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1404" y="2112590"/>
            <a:ext cx="473692" cy="473692"/>
          </a:xfrm>
          <a:prstGeom prst="ellipse">
            <a:avLst/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5097" y="1817370"/>
            <a:ext cx="9960958" cy="1064132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212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Requerimientos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Las señales de abandono ya existen en los sistemas académicos y dieron origen a 23 RF y 11 RNF.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403" y="2971503"/>
            <a:ext cx="10668652" cy="764412"/>
          </a:xfrm>
          <a:prstGeom prst="roundRect">
            <a:avLst>
              <a:gd name="adj" fmla="val 9419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1404" y="3116863"/>
            <a:ext cx="473692" cy="473692"/>
          </a:xfrm>
          <a:prstGeom prst="ellipse">
            <a:avLst/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5097" y="2971503"/>
            <a:ext cx="9960958" cy="764412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212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Modelo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LightGBM se sostuvo en periodos no vistos: 0,742 a 0,779 con datos reales.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403" y="3825917"/>
            <a:ext cx="10668652" cy="764412"/>
          </a:xfrm>
          <a:prstGeom prst="roundRect">
            <a:avLst>
              <a:gd name="adj" fmla="val 9419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>
            <a:noAutofit/>
          </a:bodyPr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1404" y="3971277"/>
            <a:ext cx="473692" cy="473692"/>
          </a:xfrm>
          <a:prstGeom prst="ellipse">
            <a:avLst/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5097" y="3825917"/>
            <a:ext cx="9960958" cy="764412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212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Sistema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Funciona de punta a punta, con tres roles, 27 servicios y operación automatizada.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403" y="4680330"/>
            <a:ext cx="10668652" cy="764412"/>
          </a:xfrm>
          <a:prstGeom prst="roundRect">
            <a:avLst>
              <a:gd name="adj" fmla="val 9419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08000" bIns="108000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1404" y="4825690"/>
            <a:ext cx="473692" cy="473692"/>
          </a:xfrm>
          <a:prstGeom prst="ellipse">
            <a:avLst/>
          </a:prstGeom>
          <a:solidFill>
            <a:srgbClr val="EC8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>
            <a:no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5097" y="4680330"/>
            <a:ext cx="9960958" cy="764412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212"/>
              </a:spcAft>
            </a:pPr>
            <a:r>
              <a:rPr sz="2200" b="1" i="0">
                <a:solidFill>
                  <a:srgbClr val="203145"/>
                </a:solidFill>
                <a:latin typeface="Arial"/>
                <a:ea typeface="Arial"/>
                <a:cs typeface="Arial"/>
              </a:rPr>
              <a:t>Evaluación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E2A36"/>
                </a:solidFill>
                <a:latin typeface="Arial"/>
                <a:ea typeface="Arial"/>
                <a:cs typeface="Arial"/>
              </a:rPr>
              <a:t>Cumple los criterios predictivos, de consulta y de protección de datos fijados al inicio.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61" name="Google Shape;16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09" y="0"/>
            <a:ext cx="1218238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Panorámica</PresentationFormat>
  <Paragraphs>7</Paragraphs>
  <Slides>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Tema de Office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Marlon David Pérez Almachi; Víctor Manuel Lluilema Pisco</dc:creator>
  <cp:lastModifiedBy>Víctor Manuel Lluilema Pisco</cp:lastModifiedBy>
  <cp:revision>5</cp:revision>
  <dcterms:created xsi:type="dcterms:W3CDTF">2025-08-23T01:43:27Z</dcterms:created>
  <dcterms:modified xsi:type="dcterms:W3CDTF">2026-09-16T20:55:38Z</dcterms:modified>
  <dc:title>Trabajo final de titulación</dc:title>
</cp:coreProperties>
</file>